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31520" y="621792"/>
            <a:ext cx="868680" cy="118872"/>
          </a:xfrm>
          <a:prstGeom prst="parallelogram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645920" y="621792"/>
            <a:ext cx="731520" cy="118872"/>
          </a:xfrm>
          <a:prstGeom prst="parallelogram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2423160" y="621792"/>
            <a:ext cx="502920" cy="118872"/>
          </a:xfrm>
          <a:prstGeom prst="parallelogram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566928"/>
            <a:ext cx="2971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entury Gothic"/>
              </a:rPr>
              <a:t>// CIRCULAR HARDWARE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30352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0B981"/>
                </a:solidFill>
                <a:latin typeface="Century Gothic"/>
              </a:rPr>
              <a:t>Introducing</a:t>
            </a:r>
          </a:p>
          <a:p>
            <a:pPr>
              <a:spcBef>
                <a:spcPts val="400"/>
              </a:spcBef>
            </a:pPr>
            <a:r>
              <a:rPr sz="5600" b="1">
                <a:solidFill>
                  <a:srgbClr val="F8FAFC"/>
                </a:solidFill>
                <a:latin typeface="Century Gothic"/>
              </a:rPr>
              <a:t>Fix</a:t>
            </a:r>
            <a:r>
              <a:rPr sz="5600" b="1">
                <a:solidFill>
                  <a:srgbClr val="00F0FF"/>
                </a:solidFill>
                <a:latin typeface="Century Gothic"/>
              </a:rPr>
              <a:t>Grid.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3035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0F0FF"/>
                </a:solidFill>
                <a:latin typeface="Century Gothic"/>
              </a:rPr>
              <a:t>Repair Over Replace.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F1F5F9"/>
                </a:solidFill>
                <a:latin typeface="Century Gothic"/>
              </a:rPr>
              <a:t>Standardizing Trust Across India.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India's decentralized repair infrastructure standardizing 1.2M neighborhood workshops through double-blind UPI escrow, cryptographic QR warranty passports, and zero-risk payouts.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719072" cy="347472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15384"/>
            <a:ext cx="171907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0FF"/>
                </a:solidFill>
                <a:latin typeface="Century Gothic"/>
              </a:rPr>
              <a:t>🛡️  100% UPI Escrow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3744" y="4160520"/>
            <a:ext cx="1719072" cy="347472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4" y="4215384"/>
            <a:ext cx="171907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6366F1"/>
                </a:solidFill>
                <a:latin typeface="Century Gothic"/>
              </a:rPr>
              <a:t>📜  QR Warranty Passports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160520"/>
            <a:ext cx="1719072" cy="347472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4215384"/>
            <a:ext cx="171907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Century Gothic"/>
              </a:rPr>
              <a:t>⚡  0% Platform Moat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731520" y="4956048"/>
            <a:ext cx="329184" cy="310896"/>
          </a:xfrm>
          <a:prstGeom prst="parallelogram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097280" y="4956048"/>
            <a:ext cx="219456" cy="310896"/>
          </a:xfrm>
          <a:prstGeom prst="parallelogram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4919472"/>
            <a:ext cx="43891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Century Gothic"/>
              </a:rPr>
              <a:t>BY: TEAM VYTRON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5285232"/>
            <a:ext cx="43891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00F0FF"/>
                </a:solidFill>
                <a:latin typeface="Century Gothic"/>
              </a:rPr>
              <a:t>Live Production System  •  https://www.vytron.me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2920"/>
            <a:ext cx="5193792" cy="5824728"/>
          </a:xfrm>
          <a:prstGeom prst="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502920"/>
            <a:ext cx="5193792" cy="347472"/>
          </a:xfrm>
          <a:prstGeom prst="rect">
            <a:avLst/>
          </a:prstGeom>
          <a:solidFill>
            <a:srgbClr val="18213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63093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47104" y="6309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93408" y="630936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22008" y="566928"/>
            <a:ext cx="4416552" cy="219456"/>
          </a:xfrm>
          <a:prstGeom prst="roundRect">
            <a:avLst/>
          </a:prstGeom>
          <a:solidFill>
            <a:srgbClr val="0B0F19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571500"/>
            <a:ext cx="423367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1F5F9"/>
                </a:solidFill>
                <a:latin typeface="Century Gothic"/>
              </a:rPr>
              <a:t>🔒 https://www.vytron.me</a:t>
            </a:r>
          </a:p>
        </p:txBody>
      </p:sp>
      <p:pic>
        <p:nvPicPr>
          <p:cNvPr id="26" name="Picture 25" descr="crop_0.89_website_hero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868680"/>
            <a:ext cx="5157216" cy="5440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Century Gothic"/>
              </a:rPr>
              <a:t>● LIVE AT 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 •   Built by Team Vytron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5059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📱 PHONES  •  🧺 APPLIANCES  •  💻 COMPUTING  •  🚲 BICYCLES  •  ⌚ WATCHES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[ 02 // PROBLEM STATEMENT: THE BROKEN REPAIR ECONOMY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The Broken Economics of Repair &amp; The Trust Deficit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Consumers replace items fixable for &lt;15% of cost because authorized centers charge 60%–80% while street repair lacks verified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92224"/>
            <a:ext cx="14813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0F0FF"/>
                </a:solidFill>
                <a:latin typeface="Century Gothic"/>
              </a:rPr>
              <a:t>$15.2B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773936"/>
            <a:ext cx="340156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Century Gothic"/>
              </a:rPr>
              <a:t>THE LEMON MARKET TRAP (AKERLOF'S ASYMMETRY)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Absence of verifiable trust forces a lose-lose choice: pay 60%–80% device value at authorized monopolies or risk unverified street shops.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00F0FF"/>
                </a:solidFill>
                <a:latin typeface="Century Gothic"/>
              </a:rPr>
              <a:t>⚖️ Akerlof's Dilemma: Trust deficit drives premature replacement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300984"/>
            <a:ext cx="14813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EF4444"/>
                </a:solidFill>
                <a:latin typeface="Century Gothic"/>
              </a:rPr>
              <a:t>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3282696"/>
            <a:ext cx="340156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Century Gothic"/>
              </a:rPr>
              <a:t>CONSUMER TRUST DEFICIT &amp; COUNTERFEIT FEAR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Consumers dread counterfeit parts, swapped laptop RAM, fake compressor relays, and arbitrary overcharging. Repairs fixable for &lt;15% cost are abandoned out of fear.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EF4444"/>
                </a:solidFill>
                <a:latin typeface="Century Gothic"/>
              </a:rPr>
              <a:t>🚨 Acute Information Asymmetry: Zero advance payment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809744"/>
            <a:ext cx="14813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59E0B"/>
                </a:solidFill>
                <a:latin typeface="Century Gothic"/>
              </a:rPr>
              <a:t>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4791456"/>
            <a:ext cx="340156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Century Gothic"/>
              </a:rPr>
              <a:t>ZERO POST-REPAIR WARRANTY &amp; RECOURSE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Offline unorganized repair offers 0 days of warranty. If a repaired motherboard or appliance fails days later, 100% of financial loss is borne by the consumer.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F59E0B"/>
                </a:solidFill>
                <a:latin typeface="Century Gothic"/>
              </a:rPr>
              <a:t>🔒 Zero Recourse: No escrow vault, no tamper-proof passport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059375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059375" cy="292608"/>
          </a:xfrm>
          <a:prstGeom prst="rect">
            <a:avLst/>
          </a:prstGeom>
          <a:solidFill>
            <a:srgbClr val="18213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700784"/>
            <a:ext cx="303562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Century Gothic"/>
              </a:rPr>
              <a:t>● 3D CAD // MULTI-CATEGORY COMPONENT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3456" y="1700784"/>
            <a:ext cx="202375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entury Gothic"/>
              </a:rPr>
              <a:t>LEMON MARKET ASYMMETRY</a:t>
            </a:r>
          </a:p>
        </p:txBody>
      </p:sp>
      <p:pic>
        <p:nvPicPr>
          <p:cNvPr id="22" name="Picture 21" descr="crop_1.15_hardware_explo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956816"/>
            <a:ext cx="5022799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[ 03 // PROBLEM STATEMENT: THE DUAL CRISIS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The Climate Paradox &amp; Vanishing Artisan Livelihoods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India generates 1.71M tonnes of toxic e-waste while 92% of skilled local repair technicians remain digitally invisible.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03520" cy="21488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F4444"/>
                </a:solidFill>
                <a:latin typeface="Century Gothic"/>
              </a:rPr>
              <a:t>⚠️ CRISIS 01: 1.71M TONNES E-WASTE &amp; 80% EMBODIED CARBON LOST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1F5F9"/>
                </a:solidFill>
                <a:latin typeface="Century Gothic"/>
              </a:rPr>
              <a:t>• 3rd Largest Global Producer: </a:t>
            </a:r>
            <a:r>
              <a:rPr sz="850">
                <a:solidFill>
                  <a:srgbClr val="CBD5E1"/>
                </a:solidFill>
                <a:latin typeface="Century Gothic"/>
              </a:rPr>
              <a:t>India produces 1.71M+ tonnes e-waste annually; over 95% is handled unsafely in informal toxic dumps.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1F5F9"/>
                </a:solidFill>
                <a:latin typeface="Century Gothic"/>
              </a:rPr>
              <a:t>• 80% Embodied Carbon Wasted: </a:t>
            </a:r>
            <a:r>
              <a:rPr sz="850">
                <a:solidFill>
                  <a:srgbClr val="CBD5E1"/>
                </a:solidFill>
                <a:latin typeface="Century Gothic"/>
              </a:rPr>
              <a:t>Up to 80% of device lifetime emissions occur during manufacturing; discarding fixable hardware wastes all embodied energy.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1F5F9"/>
                </a:solidFill>
                <a:latin typeface="Century Gothic"/>
              </a:rPr>
              <a:t>• Toxic Heavy Metal Leaching: </a:t>
            </a:r>
            <a:r>
              <a:rPr sz="850">
                <a:solidFill>
                  <a:srgbClr val="CBD5E1"/>
                </a:solidFill>
                <a:latin typeface="Century Gothic"/>
              </a:rPr>
              <a:t>Unrecycled electronics and appliances leak lead, mercury &amp; cadmium directly into groundwater and soil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63824"/>
            <a:ext cx="4937760" cy="548640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36976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EF4444"/>
                </a:solidFill>
                <a:latin typeface="Century Gothic"/>
              </a:rPr>
              <a:t>ECOLOGICAL TOLL: 1,710,000+ METRIC TONNES DISCARDED / YEAR</a:t>
            </a:r>
          </a:p>
          <a:p>
            <a:r>
              <a:rPr sz="800">
                <a:solidFill>
                  <a:srgbClr val="F1F5F9"/>
                </a:solidFill>
                <a:latin typeface="Century Gothic"/>
              </a:rPr>
              <a:t>India 3rd Largest Globally  •  80% Lifetime Carbon Footprint Irretrievably Lost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303520" cy="21488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1480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Century Gothic"/>
              </a:rPr>
              <a:t>📉 CRISIS 02: 92% DIGITALLY INVISIBLE MASTER ARTISANS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1F5F9"/>
                </a:solidFill>
                <a:latin typeface="Century Gothic"/>
              </a:rPr>
              <a:t>• 92% Lack Digital Presence: </a:t>
            </a:r>
            <a:r>
              <a:rPr sz="850">
                <a:solidFill>
                  <a:srgbClr val="CBD5E1"/>
                </a:solidFill>
                <a:latin typeface="Century Gothic"/>
              </a:rPr>
              <a:t>Neighborhood repair craftspeople lack online storefronts, customer booking tools, or search visibility.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1F5F9"/>
                </a:solidFill>
                <a:latin typeface="Century Gothic"/>
              </a:rPr>
              <a:t>• Zero Reputation Ledger: </a:t>
            </a:r>
            <a:r>
              <a:rPr sz="850">
                <a:solidFill>
                  <a:srgbClr val="CBD5E1"/>
                </a:solidFill>
                <a:latin typeface="Century Gothic"/>
              </a:rPr>
              <a:t>Years of stellar bench craftsmanship remain unrecorded; a single rumor or customer dispute can ruin a shop.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1F5F9"/>
                </a:solidFill>
                <a:latin typeface="Century Gothic"/>
              </a:rPr>
              <a:t>• Predatory Aggregator Tax: </a:t>
            </a:r>
            <a:r>
              <a:rPr sz="850">
                <a:solidFill>
                  <a:srgbClr val="CBD5E1"/>
                </a:solidFill>
                <a:latin typeface="Century Gothic"/>
              </a:rPr>
              <a:t>Monopolistic gig apps extract 25%–30% commissions on technician labor, trapping skilled artisans in gig poverty.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95544"/>
            <a:ext cx="4937760" cy="548640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568696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59E0B"/>
                </a:solidFill>
                <a:latin typeface="Century Gothic"/>
              </a:rPr>
              <a:t>ARTISAN CRISIS: 92% LACK ANY DIGITAL BOOKING PRESENCE</a:t>
            </a:r>
          </a:p>
          <a:p>
            <a:r>
              <a:rPr sz="800">
                <a:solidFill>
                  <a:srgbClr val="F1F5F9"/>
                </a:solidFill>
                <a:latin typeface="Century Gothic"/>
              </a:rPr>
              <a:t>25%–30% Aggregator Commission Drain  •  Zero Verifiable Credit or Reputation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5150815" cy="448056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5150815" cy="292608"/>
          </a:xfrm>
          <a:prstGeom prst="rect">
            <a:avLst/>
          </a:prstGeom>
          <a:solidFill>
            <a:srgbClr val="18213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00784"/>
            <a:ext cx="309048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EF4444"/>
                </a:solidFill>
                <a:latin typeface="Century Gothic"/>
              </a:rPr>
              <a:t>● ECOLOGICAL CATASTROPHE // 1.71M TONNES E-WASTE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2308" y="1700784"/>
            <a:ext cx="206032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entury Gothic"/>
              </a:rPr>
              <a:t>CRITICAL METRIC</a:t>
            </a:r>
          </a:p>
        </p:txBody>
      </p:sp>
      <p:pic>
        <p:nvPicPr>
          <p:cNvPr id="21" name="Picture 20" descr="crop_1.15_crisis_ew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56816"/>
            <a:ext cx="5114239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[ 04 // THE FIXGRID SOLUTION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One Universal Platform. Five Everyday Repair Sectors.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A standardized trust, escrow, and warranty layer powering every category of local repair.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029968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1051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Century Gothic"/>
              </a:rPr>
              <a:t>SECTOR 01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📱 Mobile</a:t>
            </a:r>
          </a:p>
          <a:p>
            <a:r>
              <a:rPr sz="850">
                <a:solidFill>
                  <a:srgbClr val="94A3B8"/>
                </a:solidFill>
                <a:latin typeface="Century Gothic"/>
              </a:rPr>
              <a:t>Smartphones &amp; iPads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560320"/>
            <a:ext cx="1700784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33472"/>
            <a:ext cx="170078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entury Gothic"/>
              </a:rPr>
              <a:t>BENCH SPECIALTIES: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AMOLED Panels
  </a:t>
            </a:r>
            <a:r>
              <a:rPr sz="800">
                <a:solidFill>
                  <a:srgbClr val="CBD5E1"/>
                </a:solidFill>
                <a:latin typeface="Century Gothic"/>
              </a:rPr>
              <a:t>Display &amp; glass laminations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Battery &amp; PMIC
  </a:t>
            </a:r>
            <a:r>
              <a:rPr sz="800">
                <a:solidFill>
                  <a:srgbClr val="CBD5E1"/>
                </a:solidFill>
                <a:latin typeface="Century Gothic"/>
              </a:rPr>
              <a:t>Cell &amp; charging IC repair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Micro-Solder
  </a:t>
            </a:r>
            <a:r>
              <a:rPr sz="800">
                <a:solidFill>
                  <a:srgbClr val="CBD5E1"/>
                </a:solidFill>
                <a:latin typeface="Century Gothic"/>
              </a:rPr>
              <a:t>Ultrasonic trace jumpers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50208"/>
            <a:ext cx="1847088" cy="2157984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78224"/>
            <a:ext cx="159105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F0FF"/>
                </a:solidFill>
                <a:latin typeface="Century Gothic"/>
              </a:rPr>
              <a:t>70% SAVED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Save ₹15,000+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⚡ 2–4 Hr Turnaround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🛡️ 30–90D Escrow Pass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Century Gothic"/>
              </a:rPr>
              <a:t>Typical: ₹1,400 (vs ₹18,000 New)</a:t>
            </a:r>
          </a:p>
          <a:p>
            <a:pPr>
              <a:spcBef>
                <a:spcPts val="200"/>
              </a:spcBef>
            </a:pPr>
            <a:r>
              <a:rPr sz="750" b="1">
                <a:solidFill>
                  <a:srgbClr val="00F0FF"/>
                </a:solidFill>
                <a:latin typeface="Century Gothic"/>
              </a:rPr>
              <a:t>Zero Advance Risk • OTP Released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5963" y="1645920"/>
            <a:ext cx="2029968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0555" y="181051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6366F1"/>
                </a:solidFill>
                <a:latin typeface="Century Gothic"/>
              </a:rPr>
              <a:t>SECTOR 02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💻 Laptops</a:t>
            </a:r>
          </a:p>
          <a:p>
            <a:r>
              <a:rPr sz="850">
                <a:solidFill>
                  <a:srgbClr val="94A3B8"/>
                </a:solidFill>
                <a:latin typeface="Century Gothic"/>
              </a:rPr>
              <a:t>MacBooks &amp; Custom PCs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70555" y="2560320"/>
            <a:ext cx="1700784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0555" y="2633472"/>
            <a:ext cx="170078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entury Gothic"/>
              </a:rPr>
              <a:t>BENCH SPECIALTIES: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Logic Boards
  </a:t>
            </a:r>
            <a:r>
              <a:rPr sz="800">
                <a:solidFill>
                  <a:srgbClr val="CBD5E1"/>
                </a:solidFill>
                <a:latin typeface="Century Gothic"/>
              </a:rPr>
              <a:t>Dead power rail &amp; PMIC fixes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Keyboards/Hinges
  </a:t>
            </a:r>
            <a:r>
              <a:rPr sz="800">
                <a:solidFill>
                  <a:srgbClr val="CBD5E1"/>
                </a:solidFill>
                <a:latin typeface="Century Gothic"/>
              </a:rPr>
              <a:t>Chassis rebuilds &amp; ports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GPU Rework
  </a:t>
            </a:r>
            <a:r>
              <a:rPr sz="800">
                <a:solidFill>
                  <a:srgbClr val="CBD5E1"/>
                </a:solidFill>
                <a:latin typeface="Century Gothic"/>
              </a:rPr>
              <a:t>BGA reballing &amp; repasting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7403" y="3950208"/>
            <a:ext cx="1847088" cy="2157984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5419" y="4078224"/>
            <a:ext cx="159105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6366F1"/>
                </a:solidFill>
                <a:latin typeface="Century Gothic"/>
              </a:rPr>
              <a:t>65% SAVED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Save ₹35,000+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⚡ Same Day Bench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🛡️ 30–90D Escrow Pass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Century Gothic"/>
              </a:rPr>
              <a:t>Typical: ₹2,800 (vs ₹45,000 New)</a:t>
            </a:r>
          </a:p>
          <a:p>
            <a:pPr>
              <a:spcBef>
                <a:spcPts val="200"/>
              </a:spcBef>
            </a:pPr>
            <a:r>
              <a:rPr sz="750" b="1">
                <a:solidFill>
                  <a:srgbClr val="6366F1"/>
                </a:solidFill>
                <a:latin typeface="Century Gothic"/>
              </a:rPr>
              <a:t>Zero Advance Risk • OTP Released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406" y="1645920"/>
            <a:ext cx="2029968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4998" y="181051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Century Gothic"/>
              </a:rPr>
              <a:t>SECTOR 03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🧺 Appliances</a:t>
            </a:r>
          </a:p>
          <a:p>
            <a:r>
              <a:rPr sz="850">
                <a:solidFill>
                  <a:srgbClr val="94A3B8"/>
                </a:solidFill>
                <a:latin typeface="Century Gothic"/>
              </a:rPr>
              <a:t>Inverter ACs &amp; Fridges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4998" y="2560320"/>
            <a:ext cx="1700784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4998" y="2633472"/>
            <a:ext cx="170078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entury Gothic"/>
              </a:rPr>
              <a:t>BENCH SPECIALTIES: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Inverter PCBs
  </a:t>
            </a:r>
            <a:r>
              <a:rPr sz="800">
                <a:solidFill>
                  <a:srgbClr val="CBD5E1"/>
                </a:solidFill>
                <a:latin typeface="Century Gothic"/>
              </a:rPr>
              <a:t>Compressor board surge fixes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Freezer Gas
  </a:t>
            </a:r>
            <a:r>
              <a:rPr sz="800">
                <a:solidFill>
                  <a:srgbClr val="CBD5E1"/>
                </a:solidFill>
                <a:latin typeface="Century Gothic"/>
              </a:rPr>
              <a:t>R600a recovery &amp; thermostats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Washers/Motors
  </a:t>
            </a:r>
            <a:r>
              <a:rPr sz="800">
                <a:solidFill>
                  <a:srgbClr val="CBD5E1"/>
                </a:solidFill>
                <a:latin typeface="Century Gothic"/>
              </a:rPr>
              <a:t>Motor rewinding &amp; panels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71846" y="3950208"/>
            <a:ext cx="1847088" cy="2157984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9862" y="4078224"/>
            <a:ext cx="159105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Century Gothic"/>
              </a:rPr>
              <a:t>75% SAVED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Save ₹22,000+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⚡ Home Visit Lab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🛡️ 30–90D Escrow Pass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Century Gothic"/>
              </a:rPr>
              <a:t>Typical: ₹1,600 (vs ₹32,000 New)</a:t>
            </a:r>
          </a:p>
          <a:p>
            <a:pPr>
              <a:spcBef>
                <a:spcPts val="200"/>
              </a:spcBef>
            </a:pPr>
            <a:r>
              <a:rPr sz="750" b="1">
                <a:solidFill>
                  <a:srgbClr val="10B981"/>
                </a:solidFill>
                <a:latin typeface="Century Gothic"/>
              </a:rPr>
              <a:t>Zero Advance Risk • OTP Released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54849" y="1645920"/>
            <a:ext cx="2029968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9441" y="181051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59E0B"/>
                </a:solidFill>
                <a:latin typeface="Century Gothic"/>
              </a:rPr>
              <a:t>SECTOR 04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🚲 Mobility</a:t>
            </a:r>
          </a:p>
          <a:p>
            <a:r>
              <a:rPr sz="850">
                <a:solidFill>
                  <a:srgbClr val="94A3B8"/>
                </a:solidFill>
                <a:latin typeface="Century Gothic"/>
              </a:rPr>
              <a:t>Bicycles &amp; E-Bikes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19441" y="2560320"/>
            <a:ext cx="1700784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9441" y="2633472"/>
            <a:ext cx="170078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entury Gothic"/>
              </a:rPr>
              <a:t>BENCH SPECIALTIES: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Drivetrains
  </a:t>
            </a:r>
            <a:r>
              <a:rPr sz="800">
                <a:solidFill>
                  <a:srgbClr val="CBD5E1"/>
                </a:solidFill>
                <a:latin typeface="Century Gothic"/>
              </a:rPr>
              <a:t>Hydraulic bleeding &amp; cassettes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E-Bike Motors
  </a:t>
            </a:r>
            <a:r>
              <a:rPr sz="800">
                <a:solidFill>
                  <a:srgbClr val="CBD5E1"/>
                </a:solidFill>
                <a:latin typeface="Century Gothic"/>
              </a:rPr>
              <a:t>Brushless hub &amp; battery tuning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Wheel Truing
  </a:t>
            </a:r>
            <a:r>
              <a:rPr sz="800">
                <a:solidFill>
                  <a:srgbClr val="CBD5E1"/>
                </a:solidFill>
                <a:latin typeface="Century Gothic"/>
              </a:rPr>
              <a:t>Spoke tension &amp; bracket 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46289" y="3950208"/>
            <a:ext cx="1847088" cy="2157984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4305" y="4078224"/>
            <a:ext cx="159105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entury Gothic"/>
              </a:rPr>
              <a:t>60% SAVED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Save ₹8,000+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⚡ Rapid Tune-Up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🛡️ 30–90D Escrow Pass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Century Gothic"/>
              </a:rPr>
              <a:t>Typical: ₹850 (vs ₹12,000 New)</a:t>
            </a:r>
          </a:p>
          <a:p>
            <a:pPr>
              <a:spcBef>
                <a:spcPts val="200"/>
              </a:spcBef>
            </a:pPr>
            <a:r>
              <a:rPr sz="750" b="1">
                <a:solidFill>
                  <a:srgbClr val="F59E0B"/>
                </a:solidFill>
                <a:latin typeface="Century Gothic"/>
              </a:rPr>
              <a:t>Zero Advance Risk • OTP Released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29292" y="1645920"/>
            <a:ext cx="2029968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3884" y="1810512"/>
            <a:ext cx="17007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A855F7"/>
                </a:solidFill>
                <a:latin typeface="Century Gothic"/>
              </a:rPr>
              <a:t>SECTOR 05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⌚ Watches</a:t>
            </a:r>
          </a:p>
          <a:p>
            <a:r>
              <a:rPr sz="850">
                <a:solidFill>
                  <a:srgbClr val="94A3B8"/>
                </a:solidFill>
                <a:latin typeface="Century Gothic"/>
              </a:rPr>
              <a:t>Precision Horology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3884" y="2560320"/>
            <a:ext cx="1700784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3884" y="2633472"/>
            <a:ext cx="170078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entury Gothic"/>
              </a:rPr>
              <a:t>BENCH SPECIALTIES: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Movements
  </a:t>
            </a:r>
            <a:r>
              <a:rPr sz="800">
                <a:solidFill>
                  <a:srgbClr val="CBD5E1"/>
                </a:solidFill>
                <a:latin typeface="Century Gothic"/>
              </a:rPr>
              <a:t>Teardown &amp; escapement tuning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Timing Rig
  </a:t>
            </a:r>
            <a:r>
              <a:rPr sz="800">
                <a:solidFill>
                  <a:srgbClr val="CBD5E1"/>
                </a:solidFill>
                <a:latin typeface="Century Gothic"/>
              </a:rPr>
              <a:t>Witschi timing beat correction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Pressure Seal
  </a:t>
            </a:r>
            <a:r>
              <a:rPr sz="800">
                <a:solidFill>
                  <a:srgbClr val="CBD5E1"/>
                </a:solidFill>
                <a:latin typeface="Century Gothic"/>
              </a:rPr>
              <a:t>20 ATM testing &amp; sapphire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0732" y="3950208"/>
            <a:ext cx="1847088" cy="2157984"/>
          </a:xfrm>
          <a:prstGeom prst="roundRect">
            <a:avLst>
              <a:gd name="adj" fmla="val 6000"/>
            </a:avLst>
          </a:prstGeom>
          <a:solidFill>
            <a:srgbClr val="182135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8748" y="4078224"/>
            <a:ext cx="159105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A855F7"/>
                </a:solidFill>
                <a:latin typeface="Century Gothic"/>
              </a:rPr>
              <a:t>80% SAVED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Save ₹40,000+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⚡ Certified Atelier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🛡️ 30–90D Escrow Pass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Century Gothic"/>
              </a:rPr>
              <a:t>Typical: ₹1,200 (vs ₹25,000 New)</a:t>
            </a:r>
          </a:p>
          <a:p>
            <a:pPr>
              <a:spcBef>
                <a:spcPts val="200"/>
              </a:spcBef>
            </a:pPr>
            <a:r>
              <a:rPr sz="750" b="1">
                <a:solidFill>
                  <a:srgbClr val="A855F7"/>
                </a:solidFill>
                <a:latin typeface="Century Gothic"/>
              </a:rPr>
              <a:t>Zero Advance Risk • OTP Released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[ 05 // PRODUCT ARCHITECTURE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From Search to Escrow Payout: Complete Peace of Mind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Powered by live geolocation matching, transparent escrow locking, and OTP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828800"/>
            <a:ext cx="594360" cy="594360"/>
          </a:xfrm>
          <a:prstGeom prst="roundRect">
            <a:avLst>
              <a:gd name="adj" fmla="val 18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300" b="1">
                <a:solidFill>
                  <a:srgbClr val="0B0F19"/>
                </a:solidFill>
                <a:latin typeface="Century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1773936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Radar Search Across 29+ Categories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Locate nearby bench-tested workshops on the live map. Filter by Appliances, Phones, Laptops, Bicycles, or Watches.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61488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944368"/>
            <a:ext cx="594360" cy="594360"/>
          </a:xfrm>
          <a:prstGeom prst="roundRect">
            <a:avLst>
              <a:gd name="adj" fmla="val 18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300" b="1">
                <a:solidFill>
                  <a:srgbClr val="0B0F19"/>
                </a:solidFill>
                <a:latin typeface="Century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889504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Upfront Quote &amp; Escrow Lock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Itemized diagnostic pricing confirmed upfront. Customer funds deposited into secure UPI Escrow (0% advance risk).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77056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059936"/>
            <a:ext cx="594360" cy="59436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300" b="1">
                <a:solidFill>
                  <a:srgbClr val="0B0F19"/>
                </a:solidFill>
                <a:latin typeface="Century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4005072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Physical Testing &amp; OTP Release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Customer physically inspects and tests the repair. Funds are released only after customer inputs verification OTP.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92624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5175504"/>
            <a:ext cx="594360" cy="59436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300" b="1">
                <a:solidFill>
                  <a:srgbClr val="0B0F19"/>
                </a:solidFill>
                <a:latin typeface="Century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5120640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Instant Payout &amp; Warranty Pass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Technician receives instant UPI transfer with 0% commission. Customer receives a 30–90 day digital warranty pass.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45920"/>
            <a:ext cx="5150815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645920"/>
            <a:ext cx="5150815" cy="347472"/>
          </a:xfrm>
          <a:prstGeom prst="rect">
            <a:avLst/>
          </a:prstGeom>
          <a:solidFill>
            <a:srgbClr val="18213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177393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92824" y="17739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39128" y="1773936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67728" y="1709928"/>
            <a:ext cx="4373575" cy="219456"/>
          </a:xfrm>
          <a:prstGeom prst="roundRect">
            <a:avLst/>
          </a:prstGeom>
          <a:solidFill>
            <a:srgbClr val="0B0F19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1714500"/>
            <a:ext cx="419069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1F5F9"/>
                </a:solidFill>
                <a:latin typeface="Century Gothic"/>
              </a:rPr>
              <a:t>🔒 https://www.vytron.me/search</a:t>
            </a:r>
          </a:p>
        </p:txBody>
      </p:sp>
      <p:pic>
        <p:nvPicPr>
          <p:cNvPr id="28" name="Picture 27" descr="website_search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011680"/>
            <a:ext cx="5114239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[ 06 // MARKET DISRUPTION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Transforming Informal Technicians into Thriving Entrepreneurs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Comparing exploitative corporate aggregator monopolies against FixGrid's partner-first economics.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57200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Century Gothic"/>
              </a:rPr>
              <a:t>THE AGGREGATOR TRAP</a:t>
            </a:r>
          </a:p>
          <a:p>
            <a:r>
              <a:rPr sz="950" i="1">
                <a:solidFill>
                  <a:srgbClr val="94A3B8"/>
                </a:solidFill>
                <a:latin typeface="Century Gothic"/>
              </a:rPr>
              <a:t>(Urban Company / Local Lead Directories)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❌ 25%–30% Heavy Commission: </a:t>
            </a:r>
            <a:r>
              <a:rPr sz="900">
                <a:solidFill>
                  <a:srgbClr val="CBD5E1"/>
                </a:solidFill>
                <a:latin typeface="Century Gothic"/>
              </a:rPr>
              <a:t>Extracted directly from the shopkeeper's service labor.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❌ Disposable Gig Workers: </a:t>
            </a:r>
            <a:r>
              <a:rPr sz="900">
                <a:solidFill>
                  <a:srgbClr val="CBD5E1"/>
                </a:solidFill>
                <a:latin typeface="Century Gothic"/>
              </a:rPr>
              <a:t>Technicians treated as anonymous numbers with zero safety net.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❌ Pay-Per-Lead Bidding War: </a:t>
            </a:r>
            <a:r>
              <a:rPr sz="900">
                <a:solidFill>
                  <a:srgbClr val="CBD5E1"/>
                </a:solidFill>
                <a:latin typeface="Century Gothic"/>
              </a:rPr>
              <a:t>Shops spend ₹300–₹500 for cold customer leads.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❌ Zero Brand Ownership: </a:t>
            </a:r>
            <a:r>
              <a:rPr sz="900">
                <a:solidFill>
                  <a:srgbClr val="CBD5E1"/>
                </a:solidFill>
                <a:latin typeface="Century Gothic"/>
              </a:rPr>
              <a:t>Customer belongs to the corporate platform; shop gets zero retention.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❌ Delayed Cash Payouts: </a:t>
            </a:r>
            <a:r>
              <a:rPr sz="900">
                <a:solidFill>
                  <a:srgbClr val="CBD5E1"/>
                </a:solidFill>
                <a:latin typeface="Century Gothic"/>
              </a:rPr>
              <a:t>Funds held for weeks with arbitrary customer chargebacks.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62272"/>
            <a:ext cx="4846320" cy="1618488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4608576"/>
            <a:ext cx="438912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EF4444"/>
                </a:solidFill>
                <a:latin typeface="Century Gothic"/>
              </a:rPr>
              <a:t>EXTRACTIVE MONOPOLY ECONOMICS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8FAFC"/>
                </a:solidFill>
                <a:latin typeface="Century Gothic"/>
              </a:rPr>
              <a:t>30% CUT ON LABOR  •  ₹18,000–₹35,000 MONTHLY DRAIN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Technicians absorb 100% of physical tool, shop rent, and warranty risk while corporate aggregators pocket 30% without touching a screwdriver.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EF4444"/>
                </a:solidFill>
                <a:latin typeface="Century Gothic"/>
              </a:rPr>
              <a:t>OUTCOME: ALIENATED GIG WORKERS  •  DYING INDEPENDENT WORKSHOPS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45920"/>
            <a:ext cx="5212080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8135" y="1874519"/>
            <a:ext cx="457200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Century Gothic"/>
              </a:rPr>
              <a:t>THE FIXGRID PARTNER MODEL</a:t>
            </a:r>
          </a:p>
          <a:p>
            <a:r>
              <a:rPr sz="950" i="1">
                <a:solidFill>
                  <a:srgbClr val="94A3B8"/>
                </a:solidFill>
                <a:latin typeface="Century Gothic"/>
              </a:rPr>
              <a:t>(Dignity, Fair Economics &amp; Sustainable Growth)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✅ 0% Commission on Labor: </a:t>
            </a:r>
            <a:r>
              <a:rPr sz="900">
                <a:solidFill>
                  <a:srgbClr val="CBD5E1"/>
                </a:solidFill>
                <a:latin typeface="Century Gothic"/>
              </a:rPr>
              <a:t>We do not take a single rupee from hard-earned service labor.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✅ +5% Completed Job Bonus: </a:t>
            </a:r>
            <a:r>
              <a:rPr sz="900">
                <a:solidFill>
                  <a:srgbClr val="CBD5E1"/>
                </a:solidFill>
                <a:latin typeface="Century Gothic"/>
              </a:rPr>
              <a:t>FixGrid pays an extra 5% cashback bonus to shops for verified repairs.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✅ 100% Brand Ownership: </a:t>
            </a:r>
            <a:r>
              <a:rPr sz="900">
                <a:solidFill>
                  <a:srgbClr val="CBD5E1"/>
                </a:solidFill>
                <a:latin typeface="Century Gothic"/>
              </a:rPr>
              <a:t>Free digital storefront and direct repeat customer relationships stay with shop.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✅ Instant UPI Escrow Payout: </a:t>
            </a:r>
            <a:r>
              <a:rPr sz="900">
                <a:solidFill>
                  <a:srgbClr val="CBD5E1"/>
                </a:solidFill>
                <a:latin typeface="Century Gothic"/>
              </a:rPr>
              <a:t>Funds released directly into the shopkeeper's bank account upon OTP.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F1F5F9"/>
                </a:solidFill>
                <a:latin typeface="Century Gothic"/>
              </a:rPr>
              <a:t>✅ Platform Warranty Shield: </a:t>
            </a:r>
            <a:r>
              <a:rPr sz="900">
                <a:solidFill>
                  <a:srgbClr val="CBD5E1"/>
                </a:solidFill>
                <a:latin typeface="Century Gothic"/>
              </a:rPr>
              <a:t>FixGrid underwrites warranty claims, protecting technicians from part liabilities.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0975" y="4462272"/>
            <a:ext cx="4846320" cy="1618488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8719" y="4608576"/>
            <a:ext cx="438912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Century Gothic"/>
              </a:rPr>
              <a:t>CIRCULAR PARTNER ECONOMICS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8FAFC"/>
                </a:solidFill>
                <a:latin typeface="Century Gothic"/>
              </a:rPr>
              <a:t>0% LABOR TAX  •  100% EARNINGS RETAINED + 5% BONUS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Technicians earn full income, accumulate verified shop ratings, build localized customer equity, and receive instant digital payments in under 60 seconds.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OUTCOME: EMPOWERED LOCAL ENTREPRENEURS  •  THRIVING COMMUNITIES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[ 07 // MEASURABLE SUSTAINABILITY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The Greenest Product Is the One That Is Already Made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Quantifiable carbon reduction metrics achieved across electronics, computing, and home appliances.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92224"/>
            <a:ext cx="1600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0F0FF"/>
                </a:solidFill>
                <a:latin typeface="Century Gothic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792224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Century Gothic"/>
              </a:rPr>
              <a:t>CO₂ EMISSIONS AVOIDED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Extending a laptop, smartphone, or refrigerator lifespan by 1–2 years slashes its lifetime carbon footprint by 80% by avoiding new manufacturing.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0F0FF"/>
                </a:solidFill>
                <a:latin typeface="Century Gothic"/>
              </a:rPr>
              <a:t>🌱 Scope 3 Reduction: Slashing Embedded Carbon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300984"/>
            <a:ext cx="1600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0B981"/>
                </a:solidFill>
                <a:latin typeface="Century Gothic"/>
              </a:rPr>
              <a:t>62M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300984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Century Gothic"/>
              </a:rPr>
              <a:t>TONS E-WASTE &amp; APPLIANCES TARGETED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Directly intercepting salvageable electronics and domestic appliances before they enter toxic, non-degradable landfills.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♻️ Landfill Interception: Critical Metals 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809744"/>
            <a:ext cx="1600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6366F1"/>
                </a:solidFill>
                <a:latin typeface="Century Gothic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809744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Century Gothic"/>
              </a:rPr>
              <a:t>LOCAL CIRCULAR ECONOMY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Recirculating capital and hardware inside neighborhood communities—every rupee spent on repair stays in the local economy.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6366F1"/>
                </a:solidFill>
                <a:latin typeface="Century Gothic"/>
              </a:rPr>
              <a:t>🏙️ Wealth Retention: 100% of Capital Stays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059375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059375" cy="292608"/>
          </a:xfrm>
          <a:prstGeom prst="rect">
            <a:avLst/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700784"/>
            <a:ext cx="303562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Century Gothic"/>
              </a:rPr>
              <a:t>● SATELLITE TELEMETRY // GLOBAL CIRCULAR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3456" y="1700784"/>
            <a:ext cx="202375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entury Gothic"/>
              </a:rPr>
              <a:t>EMERALD NET-ZERO</a:t>
            </a:r>
          </a:p>
        </p:txBody>
      </p:sp>
      <p:pic>
        <p:nvPicPr>
          <p:cNvPr id="22" name="Picture 21" descr="crop_1.15_circular_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956816"/>
            <a:ext cx="5022799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[ 08 // BUSINESS MODEL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High-Margin, Sustainable Economics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Monetizing trust, supply chain fulfillment, and SaaS tooling without taxing shopkeeper labor.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03520" cy="4480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Century Gothic"/>
              </a:rPr>
              <a:t>TAKE RATE &amp; VALUE CAPTURE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94A3B8"/>
                </a:solidFill>
                <a:latin typeface="Century Gothic"/>
              </a:rPr>
              <a:t>Comparing exploitative labor commissions against FixGrid's partner-first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1F5F9"/>
                </a:solidFill>
                <a:latin typeface="Century Gothic"/>
              </a:rPr>
              <a:t>Aggregator Monopoly (Urban Company / Directories)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926080"/>
            <a:ext cx="4663440" cy="274320"/>
          </a:xfrm>
          <a:prstGeom prst="roundRect">
            <a:avLst>
              <a:gd name="adj" fmla="val 15000"/>
            </a:avLst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926080"/>
            <a:ext cx="4430268" cy="27432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35224"/>
            <a:ext cx="42473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8FAFC"/>
                </a:solidFill>
                <a:latin typeface="Century Gothic"/>
              </a:rPr>
              <a:t>30% COMMISSION 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6499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1F5F9"/>
                </a:solidFill>
                <a:latin typeface="Century Gothic"/>
              </a:rPr>
              <a:t>FixGrid Labor Commission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657600"/>
            <a:ext cx="4663440" cy="274320"/>
          </a:xfrm>
          <a:prstGeom prst="roundRect">
            <a:avLst>
              <a:gd name="adj" fmla="val 15000"/>
            </a:avLst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657600"/>
            <a:ext cx="466344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66744"/>
            <a:ext cx="44805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8FAFC"/>
                </a:solidFill>
                <a:latin typeface="Century Gothic"/>
              </a:rPr>
              <a:t>0% COMMISSION  (+5% BONUS)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09651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1F5F9"/>
                </a:solidFill>
                <a:latin typeface="Century Gothic"/>
              </a:rPr>
              <a:t>FixGrid Escrow &amp; Warranty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389120"/>
            <a:ext cx="4663440" cy="274320"/>
          </a:xfrm>
          <a:prstGeom prst="roundRect">
            <a:avLst>
              <a:gd name="adj" fmla="val 15000"/>
            </a:avLst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389120"/>
            <a:ext cx="1305763" cy="274320"/>
          </a:xfrm>
          <a:prstGeom prst="roundRect">
            <a:avLst>
              <a:gd name="adj" fmla="val 15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398264"/>
            <a:ext cx="1122883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8FAFC"/>
                </a:solidFill>
                <a:latin typeface="Century Gothic"/>
              </a:rPr>
              <a:t>3%–4% ESCROW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280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1F5F9"/>
                </a:solidFill>
                <a:latin typeface="Century Gothic"/>
              </a:rPr>
              <a:t>B2B Multi-Category Spare Parts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120640"/>
            <a:ext cx="4663440" cy="274320"/>
          </a:xfrm>
          <a:prstGeom prst="roundRect">
            <a:avLst>
              <a:gd name="adj" fmla="val 15000"/>
            </a:avLst>
          </a:prstGeom>
          <a:solidFill>
            <a:srgbClr val="18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5120640"/>
            <a:ext cx="2424988" cy="27432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129784"/>
            <a:ext cx="22421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8FAFC"/>
                </a:solidFill>
                <a:latin typeface="Century Gothic"/>
              </a:rPr>
              <a:t>12%–15% B2B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44068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Century Gothic"/>
              </a:rPr>
              <a:t>PARTNER-FIRST VALUE CREATION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  <a:latin typeface="Century Gothic"/>
              </a:rPr>
              <a:t>FixGrid monetizes transaction trust, wholesale parts, and SaaS tooling—never taking a rupee from technician labor.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095" y="1645920"/>
            <a:ext cx="5212080" cy="135331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792224"/>
            <a:ext cx="466344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1. Consumer Escrow &amp; Warranty Fee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Nominal ₹49–₹99 per booking. Consumers gladly pay a microscopic fee for 100% dispute protection, secure UPI escrow, and guaranteed 30–90 day warranty.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0F0FF"/>
                </a:solidFill>
                <a:latin typeface="Century Gothic"/>
              </a:rPr>
              <a:t>💎 High-Margin Fee: ₹49–₹99 / Booking  •  94% Checkout Opt-In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3154680"/>
            <a:ext cx="5212080" cy="135331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300984"/>
            <a:ext cx="466344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2. B2B Multi-Category Spare Parts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12%–15% wholesale margin on verified phone screens, laptop batteries, compressor relays, and bicycle drivetrains supplied directly to partner shops.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6366F1"/>
                </a:solidFill>
                <a:latin typeface="Century Gothic"/>
              </a:rPr>
              <a:t>📦 Wholesale Margin: 12%–15% Gross  •  Sub-0.8% RMA Rate  •  OEM Batch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4663440"/>
            <a:ext cx="5212080" cy="135331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809744"/>
            <a:ext cx="466344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8FAFC"/>
                </a:solidFill>
                <a:latin typeface="Century Gothic"/>
              </a:rPr>
              <a:t>3. Shop Pro SaaS Subscriptions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₹999/month optional premium tier for shops wanting top geographic search ranking, verified gold trust badges, automated CRM, and multi-category inventory.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🚀 Recurring SaaS: ₹999/Month  •  89% 6-Month Projected Shop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[ 09 // DEFENSIVE MOAT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Why FixGrid Wins: The Moat of Trust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Four structural competitive advantages that create an insurmountable barrier to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Century Gothic"/>
              </a:rPr>
              <a:t>MOAT PILLAR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Platform Warranty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Offline unorganized repair shops offer 0 days warranty; we make repair as safe as buying new.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880360"/>
            <a:ext cx="2295144" cy="1874519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026664"/>
            <a:ext cx="2039112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0F0FF"/>
                </a:solidFill>
                <a:latin typeface="Century Gothic"/>
              </a:rPr>
              <a:t>DEFENSIVE MECHANISM: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Central Trust Reserve: </a:t>
            </a:r>
            <a:r>
              <a:rPr sz="800">
                <a:solidFill>
                  <a:srgbClr val="CBD5E1"/>
                </a:solidFill>
                <a:latin typeface="Century Gothic"/>
              </a:rPr>
              <a:t>FixGrid underwrites parts claims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Digital Pass QR: </a:t>
            </a:r>
            <a:r>
              <a:rPr sz="800">
                <a:solidFill>
                  <a:srgbClr val="CBD5E1"/>
                </a:solidFill>
                <a:latin typeface="Century Gothic"/>
              </a:rPr>
              <a:t>Tamper-proof repair passport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30–90D Guarantee: </a:t>
            </a:r>
            <a:r>
              <a:rPr sz="800">
                <a:solidFill>
                  <a:srgbClr val="CBD5E1"/>
                </a:solidFill>
                <a:latin typeface="Century Gothic"/>
              </a:rPr>
              <a:t>Zero-risk customer assurance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Reserve Backing: </a:t>
            </a:r>
            <a:r>
              <a:rPr sz="800">
                <a:solidFill>
                  <a:srgbClr val="CBD5E1"/>
                </a:solidFill>
                <a:latin typeface="Century Gothic"/>
              </a:rPr>
              <a:t>15% GMV central escrow pool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828032"/>
            <a:ext cx="2295144" cy="1280160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974336"/>
            <a:ext cx="2039112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F0FF"/>
                </a:solidFill>
                <a:latin typeface="Century Gothic"/>
              </a:rPr>
              <a:t>30–90 Days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vs. 0 Days Offline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F1F5F9"/>
                </a:solidFill>
                <a:latin typeface="Century Gothic"/>
              </a:rPr>
              <a:t>🛡️ Cryptographic QR Passport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00F0FF"/>
                </a:solidFill>
                <a:latin typeface="Century Gothic"/>
              </a:rPr>
              <a:t>Tamper-Proof Platform Backing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645920"/>
            <a:ext cx="2514600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181051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6366F1"/>
                </a:solidFill>
                <a:latin typeface="Century Gothic"/>
              </a:rPr>
              <a:t>MOAT PILLAR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Smart Escrow Hold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Customer funds remain safely locked in escrow until in-person physical inspection and OTP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5304" y="2880360"/>
            <a:ext cx="2295144" cy="1874519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026664"/>
            <a:ext cx="2039112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entury Gothic"/>
              </a:rPr>
              <a:t>DEFENSIVE MECHANISM: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UPI Escrow Vault: </a:t>
            </a:r>
            <a:r>
              <a:rPr sz="800">
                <a:solidFill>
                  <a:srgbClr val="CBD5E1"/>
                </a:solidFill>
                <a:latin typeface="Century Gothic"/>
              </a:rPr>
              <a:t>Zero advance payment extortion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Physical OTP Release: </a:t>
            </a:r>
            <a:r>
              <a:rPr sz="800">
                <a:solidFill>
                  <a:srgbClr val="CBD5E1"/>
                </a:solidFill>
                <a:latin typeface="Century Gothic"/>
              </a:rPr>
              <a:t>Customer tests before paying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Dispute Shield: </a:t>
            </a:r>
            <a:r>
              <a:rPr sz="800">
                <a:solidFill>
                  <a:srgbClr val="CBD5E1"/>
                </a:solidFill>
                <a:latin typeface="Century Gothic"/>
              </a:rPr>
              <a:t>Instant fair platform arbitration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Release Trigger: </a:t>
            </a:r>
            <a:r>
              <a:rPr sz="800">
                <a:solidFill>
                  <a:srgbClr val="CBD5E1"/>
                </a:solidFill>
                <a:latin typeface="Century Gothic"/>
              </a:rPr>
              <a:t>Physical inspection &amp; cryptographic OTP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75304" y="4828032"/>
            <a:ext cx="2295144" cy="1280160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974336"/>
            <a:ext cx="2039112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6366F1"/>
                </a:solidFill>
                <a:latin typeface="Century Gothic"/>
              </a:rPr>
              <a:t>100% Escrow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Zero Advance Risk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F1F5F9"/>
                </a:solidFill>
                <a:latin typeface="Century Gothic"/>
              </a:rPr>
              <a:t>🔒 0% Advance Customer Risk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6366F1"/>
                </a:solidFill>
                <a:latin typeface="Century Gothic"/>
              </a:rPr>
              <a:t>Tamper-Proof Platform Backing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645920"/>
            <a:ext cx="2514600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81051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Century Gothic"/>
              </a:rPr>
              <a:t>MOAT PILLAR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0% Fee + 5% Bonus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By giving technicians 100% of labor fees plus a 5% bonus, shopkeepers actively route clients to FixGrid.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880360"/>
            <a:ext cx="2295144" cy="1874519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026664"/>
            <a:ext cx="2039112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Century Gothic"/>
              </a:rPr>
              <a:t>DEFENSIVE MECHANISM: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Zero Labor Tax: </a:t>
            </a:r>
            <a:r>
              <a:rPr sz="800">
                <a:solidFill>
                  <a:srgbClr val="CBD5E1"/>
                </a:solidFill>
                <a:latin typeface="Century Gothic"/>
              </a:rPr>
              <a:t>100% of labor kept by technician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+5% Cash Cashback: </a:t>
            </a:r>
            <a:r>
              <a:rPr sz="800">
                <a:solidFill>
                  <a:srgbClr val="CBD5E1"/>
                </a:solidFill>
                <a:latin typeface="Century Gothic"/>
              </a:rPr>
              <a:t>Bonus for on-time verified fixes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Storefront Equity: </a:t>
            </a:r>
            <a:r>
              <a:rPr sz="800">
                <a:solidFill>
                  <a:srgbClr val="CBD5E1"/>
                </a:solidFill>
                <a:latin typeface="Century Gothic"/>
              </a:rPr>
              <a:t>Shops build repeat customer retention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Shop Incentive: </a:t>
            </a:r>
            <a:r>
              <a:rPr sz="800">
                <a:solidFill>
                  <a:srgbClr val="CBD5E1"/>
                </a:solidFill>
                <a:latin typeface="Century Gothic"/>
              </a:rPr>
              <a:t>Technicians earn ₹4,500+ extra monthly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828032"/>
            <a:ext cx="2295144" cy="1280160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4974336"/>
            <a:ext cx="2039112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Century Gothic"/>
              </a:rPr>
              <a:t>0% Labor Tax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+5% Partner Cashback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F1F5F9"/>
                </a:solidFill>
                <a:latin typeface="Century Gothic"/>
              </a:rPr>
              <a:t>⚡ Instant UPI Bank Settlement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10B981"/>
                </a:solidFill>
                <a:latin typeface="Century Gothic"/>
              </a:rPr>
              <a:t>Tamper-Proof Platform Backing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3688" y="1645920"/>
            <a:ext cx="2514600" cy="4526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181051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59E0B"/>
                </a:solidFill>
                <a:latin typeface="Century Gothic"/>
              </a:rPr>
              <a:t>MOAT PILLAR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8FAFC"/>
                </a:solidFill>
                <a:latin typeface="Century Gothic"/>
              </a:rPr>
              <a:t>Climate Credentials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CBD5E1"/>
                </a:solidFill>
                <a:latin typeface="Century Gothic"/>
              </a:rPr>
              <a:t>Real-time carbon savings certificates issued per repair. Empowers consumers &amp; corporate ESG.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43416" y="2880360"/>
            <a:ext cx="2295144" cy="1874519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3026664"/>
            <a:ext cx="2039112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F59E0B"/>
                </a:solidFill>
                <a:latin typeface="Century Gothic"/>
              </a:rPr>
              <a:t>DEFENSIVE MECHANISM: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CO₂ Avoidance Math: </a:t>
            </a:r>
            <a:r>
              <a:rPr sz="800">
                <a:solidFill>
                  <a:srgbClr val="CBD5E1"/>
                </a:solidFill>
                <a:latin typeface="Century Gothic"/>
              </a:rPr>
              <a:t>Proprietary lifecycle carbon engine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Scope 3 Ledgers: </a:t>
            </a:r>
            <a:r>
              <a:rPr sz="800">
                <a:solidFill>
                  <a:srgbClr val="CBD5E1"/>
                </a:solidFill>
                <a:latin typeface="Century Gothic"/>
              </a:rPr>
              <a:t>Verified enterprise decarb data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Green Badges: </a:t>
            </a:r>
            <a:r>
              <a:rPr sz="800">
                <a:solidFill>
                  <a:srgbClr val="CBD5E1"/>
                </a:solidFill>
                <a:latin typeface="Century Gothic"/>
              </a:rPr>
              <a:t>Public ESG sustainability certificates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F1F5F9"/>
                </a:solidFill>
                <a:latin typeface="Century Gothic"/>
              </a:rPr>
              <a:t>• Decarb Ledger: </a:t>
            </a:r>
            <a:r>
              <a:rPr sz="800">
                <a:solidFill>
                  <a:srgbClr val="CBD5E1"/>
                </a:solidFill>
                <a:latin typeface="Century Gothic"/>
              </a:rPr>
              <a:t>Verified ISO 14040 lifecycle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3416" y="4828032"/>
            <a:ext cx="2295144" cy="1280160"/>
          </a:xfrm>
          <a:prstGeom prst="roundRect">
            <a:avLst>
              <a:gd name="adj" fmla="val 5000"/>
            </a:avLst>
          </a:prstGeom>
          <a:solidFill>
            <a:srgbClr val="1821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4974336"/>
            <a:ext cx="2039112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entury Gothic"/>
              </a:rPr>
              <a:t>Scope 3 Impact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Century Gothic"/>
              </a:rPr>
              <a:t>Live Decarb Badges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F1F5F9"/>
                </a:solidFill>
                <a:latin typeface="Century Gothic"/>
              </a:rPr>
              <a:t>🌱 Verifiable ESG Sustainability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F59E0B"/>
                </a:solidFill>
                <a:latin typeface="Century Gothic"/>
              </a:rPr>
              <a:t>Tamper-Proof Platform Backing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FIXGRID </a:t>
            </a:r>
            <a:r>
              <a:rPr sz="850">
                <a:solidFill>
                  <a:srgbClr val="64748B"/>
                </a:solidFill>
                <a:latin typeface="Century Gothic"/>
              </a:rPr>
              <a:t>// UNIVERSAL CIRCULAR TRUST &amp; WARRANTY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entury Gothic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00F0FF"/>
                </a:solidFill>
                <a:latin typeface="Century Gothic"/>
              </a:rPr>
              <a:t>www.vytron.me</a:t>
            </a:r>
            <a:r>
              <a:rPr sz="850">
                <a:solidFill>
                  <a:srgbClr val="64748B"/>
                </a:solidFill>
                <a:latin typeface="Century Gothic"/>
              </a:rPr>
              <a:t>  •  Built by Team Vytron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entury Gothic"/>
              </a:rPr>
              <a:t>All Categories: Phones • Appliances • Laptops • Bicycles •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[ 10 // THE FUTURE OF REPAIR ]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8FAFC"/>
                </a:solidFill>
                <a:latin typeface="Century Gothic"/>
              </a:rPr>
              <a:t>Fixing Devices &amp; Appliances. Empowering Artisans. Healing Earth.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94A3B8"/>
                </a:solidFill>
                <a:latin typeface="Century Gothic"/>
              </a:rPr>
              <a:t>A production-tested circular platform architected for nationwide multi-category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3035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Century Gothic"/>
              </a:rPr>
              <a:t>PRODUCTION STACK:  NEXT.JS 16  •  SUPABASE  •  UPI ESCROW  •  RIGHT TO REPAIR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F0FF"/>
                </a:solidFill>
                <a:latin typeface="Century Gothic"/>
              </a:rPr>
              <a:t>💰 For Consumers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Save ₹25,000+ yearly across phones, appliances, and laptops with complete peace of mind, upfront itemized pricing, and guaranteed warranty.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0F0FF"/>
                </a:solidFill>
                <a:latin typeface="Century Gothic"/>
              </a:rPr>
              <a:t>💎 Value: Upfront itemized quotes • ₹25,000+ saved yearly • 30–90D warranty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6366F1"/>
                </a:solidFill>
                <a:latin typeface="Century Gothic"/>
              </a:rPr>
              <a:t>🏪 For Technicians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Dignified digital livelihood with 0% commission, free SEO storefront, and repeat customer retention across all 5 sectors.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6366F1"/>
                </a:solidFill>
                <a:latin typeface="Century Gothic"/>
              </a:rPr>
              <a:t>🛠️ Value: 0% labor commission • Free SEO digital storefront • 100% direct clients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0B981"/>
                </a:solidFill>
                <a:latin typeface="Century Gothic"/>
              </a:rPr>
              <a:t>🌍 For Earth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CBD5E1"/>
                </a:solidFill>
                <a:latin typeface="Century Gothic"/>
              </a:rPr>
              <a:t>Diverting 62M tons of electronics and domestic appliances from landfills—one circular repair at a time.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10B981"/>
                </a:solidFill>
                <a:latin typeface="Century Gothic"/>
              </a:rPr>
              <a:t>🌱 Value: 62M tons diverted • Slashing 80% upstream manufacturing footprint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53712"/>
            <a:ext cx="5303520" cy="15727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47548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Century Gothic"/>
              </a:rPr>
              <a:t>JOIN THE FIXGRID REPAIR REVOLUTION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1F5F9"/>
                </a:solidFill>
                <a:latin typeface="Century Gothic"/>
              </a:rPr>
              <a:t>Live Working Platform: </a:t>
            </a:r>
            <a:r>
              <a:rPr sz="1100" b="1">
                <a:solidFill>
                  <a:srgbClr val="F8FAFC"/>
                </a:solidFill>
                <a:latin typeface="Century Gothic"/>
              </a:rPr>
              <a:t>www.vytron.me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1F5F9"/>
                </a:solidFill>
                <a:latin typeface="Century Gothic"/>
              </a:rPr>
              <a:t>Built by Team Vytron • Core Architecture &amp; Engineering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0B981"/>
                </a:solidFill>
                <a:latin typeface="Century Gothic"/>
              </a:rPr>
              <a:t>⚡ DECENTRALIZED CIRCULAR HARDWARE INFRASTRUCTURE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94A3B8"/>
                </a:solidFill>
                <a:latin typeface="Century Gothic"/>
              </a:rPr>
              <a:t>All 5 Repair Sectors Live: Phones • Laptops • Appliances • Bicycles • Watches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150815" cy="448056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5150815" cy="347472"/>
          </a:xfrm>
          <a:prstGeom prst="rect">
            <a:avLst/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177393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824" y="17739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39128" y="1773936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67728" y="1709928"/>
            <a:ext cx="4373575" cy="219456"/>
          </a:xfrm>
          <a:prstGeom prst="roundRect">
            <a:avLst/>
          </a:prstGeom>
          <a:solidFill>
            <a:srgbClr val="0B0F19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714500"/>
            <a:ext cx="419069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F1F5F9"/>
                </a:solidFill>
                <a:latin typeface="Century Gothic"/>
              </a:rPr>
              <a:t>🔒 https://www.vytron.me/expert/coolbreeze-fridge-hvac-experts</a:t>
            </a:r>
          </a:p>
        </p:txBody>
      </p:sp>
      <p:pic>
        <p:nvPicPr>
          <p:cNvPr id="19" name="Picture 18" descr="crop_1.15_website_shop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011680"/>
            <a:ext cx="5114239" cy="4096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